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B4E6CB-6819-4A64-B8B0-EBD45F913E2B}">
  <a:tblStyle styleId="{BCB4E6CB-6819-4A64-B8B0-EBD45F913E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2"/>
    <p:restoredTop sz="94658"/>
  </p:normalViewPr>
  <p:slideViewPr>
    <p:cSldViewPr snapToGrid="0">
      <p:cViewPr varScale="1">
        <p:scale>
          <a:sx n="104" d="100"/>
          <a:sy n="104" d="100"/>
        </p:scale>
        <p:origin x="224" y="5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189195ef9_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b189195ef9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189195ef9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b189195ef9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189195ef9_2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b189195ef9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189195ef9_2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b189195ef9_2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189195ef9_2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b189195ef9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189195ef9_2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b189195ef9_2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189195ef9_2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b189195ef9_2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189195ef9_2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b189195ef9_2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189195ef9_2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b189195ef9_2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619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255645" y="1828948"/>
            <a:ext cx="5680710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5400" b="1" i="0" u="none" strike="noStrike" cap="none" dirty="0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 BERT </a:t>
            </a:r>
            <a:r>
              <a:rPr lang="en-US" sz="54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的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5400" b="1" i="0" u="none" strike="noStrike" cap="none" dirty="0" err="1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中文情感分析系统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157426" y="3665190"/>
            <a:ext cx="587714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555566"/>
                </a:solidFill>
                <a:latin typeface="Noto Sans SC"/>
                <a:ea typeface="Noto Sans SC"/>
                <a:cs typeface="Noto Sans SC"/>
                <a:sym typeface="Noto Sans SC"/>
              </a:rPr>
              <a:t>期末作业汇报</a:t>
            </a:r>
            <a:r>
              <a:rPr lang="en-US" sz="2400" b="0" i="0" u="none" strike="noStrike" cap="none" dirty="0">
                <a:solidFill>
                  <a:srgbClr val="555566"/>
                </a:solidFill>
                <a:latin typeface="Noto Sans SC"/>
                <a:ea typeface="Noto Sans SC"/>
                <a:cs typeface="Noto Sans SC"/>
                <a:sym typeface="Noto Sans SC"/>
              </a:rPr>
              <a:t> | </a:t>
            </a:r>
            <a:r>
              <a:rPr lang="en-US" sz="2400" b="0" i="0" u="none" strike="noStrike" cap="none" dirty="0" err="1">
                <a:solidFill>
                  <a:srgbClr val="555566"/>
                </a:solidFill>
                <a:latin typeface="Noto Sans SC"/>
                <a:ea typeface="Noto Sans SC"/>
                <a:cs typeface="Noto Sans SC"/>
                <a:sym typeface="Noto Sans SC"/>
              </a:rPr>
              <a:t>从模型微调到全流程落地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848100" y="4724251"/>
            <a:ext cx="20383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汇报人：王羿秋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6066317" y="4724251"/>
            <a:ext cx="362171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学号：</a:t>
            </a:r>
            <a:r>
              <a:rPr lang="en-US" altLang="zh-CN" sz="1650" b="0" i="0" u="none" strike="noStrike" cap="non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2102140102041</a:t>
            </a:r>
            <a:endParaRPr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8100" y="4790926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7012" y="4751264"/>
            <a:ext cx="23812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9551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476250" y="256222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本项目构建了一个端到端的中文情感分析系统，涵盖从数据处理到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Web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交互的完整流程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graphicFrame>
        <p:nvGraphicFramePr>
          <p:cNvPr id="109" name="Google Shape;109;p15"/>
          <p:cNvGraphicFramePr/>
          <p:nvPr/>
        </p:nvGraphicFramePr>
        <p:xfrm>
          <a:off x="476250" y="3362325"/>
          <a:ext cx="5334000" cy="2467000"/>
        </p:xfrm>
        <a:graphic>
          <a:graphicData uri="http://schemas.openxmlformats.org/drawingml/2006/table">
            <a:tbl>
              <a:tblPr firstRow="1" bandRow="1">
                <a:noFill/>
                <a:tableStyleId>{BCB4E6CB-6819-4A64-B8B0-EBD45F913E2B}</a:tableStyleId>
              </a:tblPr>
              <a:tblGrid>
                <a:gridCol w="132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组件模块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技术选型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核心模型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Google BERT (bert-base-chinese)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训练框架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PyTorch + Hugging Face Transformers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硬件加速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MPS (Mac) / CUDA (Cloud) 自适应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交互界面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Gradio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Web UI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1" name="Google Shape;111;p15"/>
          <p:cNvSpPr/>
          <p:nvPr/>
        </p:nvSpPr>
        <p:spPr>
          <a:xfrm>
            <a:off x="476250" y="3843337"/>
            <a:ext cx="13259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802159" y="3843337"/>
            <a:ext cx="40080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76250" y="4338637"/>
            <a:ext cx="13259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1802159" y="4338637"/>
            <a:ext cx="40080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476250" y="4833937"/>
            <a:ext cx="13259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1802159" y="4833937"/>
            <a:ext cx="40080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76250" y="5329237"/>
            <a:ext cx="13259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1802159" y="5329237"/>
            <a:ext cx="40080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476250" y="476250"/>
            <a:ext cx="11715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技术架构概览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476250" y="1228725"/>
            <a:ext cx="112395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2AACF18-78A1-E9D5-6C61-2CBF24DA05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73" y="1888739"/>
            <a:ext cx="5963020" cy="44930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257425"/>
            <a:ext cx="3555950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257425"/>
            <a:ext cx="3555950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257425"/>
            <a:ext cx="3555950" cy="3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62000" y="3590925"/>
            <a:ext cx="31336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多源异构数据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62000" y="4305300"/>
            <a:ext cx="29844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融合通用语料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clapAI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与垂直领域</a:t>
            </a:r>
            <a:r>
              <a:rPr lang="es-419" altLang="zh-CN" dirty="0"/>
              <a:t> </a:t>
            </a:r>
            <a:r>
              <a:rPr lang="es-419" altLang="zh-CN" sz="1500" b="1" dirty="0">
                <a:solidFill>
                  <a:srgbClr val="334155"/>
                </a:solidFill>
                <a:latin typeface="Noto Sans SC"/>
              </a:rPr>
              <a:t>Chinese-Herbal-Medicine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医疗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电商）数据，提升模型在特定场景下的泛化能力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4603700" y="3590925"/>
            <a:ext cx="31336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数据清洗管道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78311" y="4298092"/>
            <a:ext cx="2984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构建自动化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Pipeline：剔除无效评论，过滤极短文本，并统一将标签映射为标准格式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(0/1/2)。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8445400" y="3590925"/>
            <a:ext cx="31336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性能优化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45400" y="4305300"/>
            <a:ext cx="2984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Python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Multiprocessing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技术实现多进程分词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(Tokenization)，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大幅缩短预处理时间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6860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3700" y="26860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45400" y="26860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476250" y="857250"/>
            <a:ext cx="11715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数据工程 (Data Engineering)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476250" y="1666875"/>
            <a:ext cx="112395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24087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23361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62000" y="225831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全参数微调 (Full Fine-tuning)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基于预训练的 bert-base-chinese 模型，对所有层参数进行更新，以适应中文情感语义。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62000" y="3344167"/>
            <a:ext cx="5048250" cy="61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超参数配置</a:t>
            </a:r>
            <a:r>
              <a:rPr lang="en-US" sz="15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4132808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优化器</a:t>
            </a:r>
            <a:r>
              <a:rPr lang="en-US" sz="15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使用 AdamW 优化器，配合 Warmup 策略，确保模型稳定收敛。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62000" y="521865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训练环境</a:t>
            </a:r>
            <a:r>
              <a:rPr lang="en-US" sz="15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支持 Mac 本地高效开发与云端大规模训练无缝切换。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687067"/>
            <a:ext cx="15811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71850" y="3687067"/>
            <a:ext cx="10572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476250" y="476250"/>
            <a:ext cx="11715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模型训练策略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476250" y="1285875"/>
            <a:ext cx="112395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225831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334416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81250" y="3687067"/>
            <a:ext cx="952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413280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5218658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253555"/>
            <a:ext cx="3555950" cy="375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253555"/>
            <a:ext cx="3555950" cy="375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253555"/>
            <a:ext cx="3555950" cy="375091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62000" y="3587055"/>
            <a:ext cx="31336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跨平台硬件适配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4301430"/>
            <a:ext cx="2984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解决了 Mac M 系列芯片训练慢的问题。代码内置自动检测逻辑：优先使用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MPS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，其次 CUDA，最后 CPU。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03700" y="3587055"/>
            <a:ext cx="31336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实时训练监控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603700" y="4301430"/>
            <a:ext cx="2984450" cy="1226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开发了独立的 脚本，实时读取 Checkpoint 日志，动态输出 Loss 和 Accuracy，无需盲目等待。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445400" y="3587055"/>
            <a:ext cx="31336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云端一键部署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445400" y="4301430"/>
            <a:ext cx="2984450" cy="9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封装 单文件脚本，支持 AutoDL/Colab 等云平台环境自动配置与数据下载。</a:t>
            </a:r>
            <a:endParaRPr/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68218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3700" y="26821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84800" y="4339530"/>
            <a:ext cx="11620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45400" y="268218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864500" y="4339530"/>
            <a:ext cx="15811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476250" y="853380"/>
            <a:ext cx="11715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工程化亮点 (难点攻克)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476250" y="1663005"/>
            <a:ext cx="112395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8916" y="3302347"/>
            <a:ext cx="474166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4535805" y="4102447"/>
            <a:ext cx="312039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在此处粘贴正负样本分布饼图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4572000" y="4502497"/>
            <a:ext cx="304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请替换此区域为您生成的各类别数据占比图表</a:t>
            </a:r>
            <a:endParaRPr dirty="0"/>
          </a:p>
        </p:txBody>
      </p:sp>
      <p:sp>
        <p:nvSpPr>
          <p:cNvPr id="201" name="Google Shape;201;p20"/>
          <p:cNvSpPr txBox="1"/>
          <p:nvPr/>
        </p:nvSpPr>
        <p:spPr>
          <a:xfrm>
            <a:off x="476250" y="476250"/>
            <a:ext cx="11715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数据分析：样本分布情况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476250" y="1228725"/>
            <a:ext cx="112395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64BEB8F-C581-2891-1ED0-6784E51CC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006" y="1581150"/>
            <a:ext cx="7772400" cy="46479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957387"/>
            <a:ext cx="112395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58916" y="3302347"/>
            <a:ext cx="474166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4428920" y="4102447"/>
            <a:ext cx="333401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在此处粘贴训练 Loss 下降曲线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135487" y="4502497"/>
            <a:ext cx="3920876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请替换此区域为您生成的 matplotlib/seaborn 损失函数图表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476250" y="476250"/>
            <a:ext cx="11715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模型评估：训练收敛曲线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476250" y="1228725"/>
            <a:ext cx="112395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86225"/>
            <a:ext cx="4810125" cy="221572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571500" y="857250"/>
            <a:ext cx="5050631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系统演示与交付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71500" y="2219325"/>
            <a:ext cx="505063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Web 交互界面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71500" y="2933700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Gradio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开发了可视化的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Web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Demo，支持用户输入任意中文文本，系统毫秒级返回情感倾向（积极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消极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中性）及置信度分数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213" name="Google Shape;213;p21"/>
          <p:cNvSpPr txBox="1"/>
          <p:nvPr/>
        </p:nvSpPr>
        <p:spPr>
          <a:xfrm>
            <a:off x="621508" y="5162550"/>
            <a:ext cx="500062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测试用例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物流太慢了，包装也破损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 dirty="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➔ </a:t>
            </a:r>
            <a:r>
              <a:rPr lang="en-US" sz="1500" b="1" i="0" u="none" strike="noStrike" cap="none" dirty="0" err="1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预测结果：消极</a:t>
            </a:r>
            <a:r>
              <a:rPr lang="en-US" sz="1500" b="1" i="0" u="none" strike="noStrike" cap="none" dirty="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 (Negative)</a:t>
            </a:r>
            <a:endParaRPr dirty="0"/>
          </a:p>
        </p:txBody>
      </p:sp>
      <p:pic>
        <p:nvPicPr>
          <p:cNvPr id="214" name="Google Shape;21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0768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D4AC5C5-BEF1-A95C-8BA7-77EAD25952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125" y="1816314"/>
            <a:ext cx="6499041" cy="45398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409825"/>
            <a:ext cx="35559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409825"/>
            <a:ext cx="35559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409825"/>
            <a:ext cx="3555950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687388" y="3743325"/>
            <a:ext cx="31336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高精度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762000" y="4457700"/>
            <a:ext cx="2984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BERT 强大的语义理解能力，实现了对中文评论的高准确率分类。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4529089" y="3743325"/>
            <a:ext cx="31336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工程规范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4603700" y="4457700"/>
            <a:ext cx="2984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项目具备清晰的模块化结构，实现了数据清洗、模型监控、断点续训等工程化特性。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8370789" y="3743325"/>
            <a:ext cx="31336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全流程落地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8445400" y="4457700"/>
            <a:ext cx="2984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不仅仅是模型训练，更完成了从原始数据处理到前端 Web 交互界面的完整系统构建。</a:t>
            </a:r>
            <a:endParaRPr/>
          </a:p>
        </p:txBody>
      </p:sp>
      <p:pic>
        <p:nvPicPr>
          <p:cNvPr id="229" name="Google Shape;22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3650" y="28384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726" y="28384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99426" y="28384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476250" y="1009650"/>
            <a:ext cx="11715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总结 (Summary)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476250" y="1819275"/>
            <a:ext cx="112395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4675822" y="1840259"/>
            <a:ext cx="284035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5088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4743450" y="2853630"/>
            <a:ext cx="27051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55566"/>
                </a:solidFill>
                <a:latin typeface="Noto Sans SC"/>
                <a:ea typeface="Noto Sans SC"/>
                <a:cs typeface="Noto Sans SC"/>
                <a:sym typeface="Noto Sans SC"/>
              </a:rPr>
              <a:t>请老师批评指正</a:t>
            </a:r>
            <a:endParaRPr/>
          </a:p>
        </p:txBody>
      </p:sp>
      <p:pic>
        <p:nvPicPr>
          <p:cNvPr id="241" name="Google Shape;24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4131766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261</Words>
  <Application>Microsoft Macintosh PowerPoint</Application>
  <PresentationFormat>宽屏</PresentationFormat>
  <Paragraphs>54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Noto Sans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i.need.excursion@gmail.com</cp:lastModifiedBy>
  <cp:revision>9</cp:revision>
  <dcterms:modified xsi:type="dcterms:W3CDTF">2025-12-18T07:41:33Z</dcterms:modified>
</cp:coreProperties>
</file>